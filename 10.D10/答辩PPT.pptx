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空气 一怀" userId="10627fc3372d1323" providerId="LiveId" clId="{03F84D61-FF13-4C44-BBBD-E15F7EDED5E1}"/>
    <pc:docChg chg="custSel modSld">
      <pc:chgData name="空气 一怀" userId="10627fc3372d1323" providerId="LiveId" clId="{03F84D61-FF13-4C44-BBBD-E15F7EDED5E1}" dt="2026-06-26T07:46:12.148" v="174" actId="5793"/>
      <pc:docMkLst>
        <pc:docMk/>
      </pc:docMkLst>
      <pc:sldChg chg="modSp mod">
        <pc:chgData name="空气 一怀" userId="10627fc3372d1323" providerId="LiveId" clId="{03F84D61-FF13-4C44-BBBD-E15F7EDED5E1}" dt="2026-06-26T07:46:12.148" v="174" actId="5793"/>
        <pc:sldMkLst>
          <pc:docMk/>
          <pc:sldMk cId="0" sldId="256"/>
        </pc:sldMkLst>
        <pc:spChg chg="mod">
          <ac:chgData name="空气 一怀" userId="10627fc3372d1323" providerId="LiveId" clId="{03F84D61-FF13-4C44-BBBD-E15F7EDED5E1}" dt="2026-06-26T07:46:12.148" v="174" actId="5793"/>
          <ac:spMkLst>
            <pc:docMk/>
            <pc:sldMk cId="0" sldId="256"/>
            <ac:spMk id="4" creationId="{00000000-0000-0000-0000-000000000000}"/>
          </ac:spMkLst>
        </pc:spChg>
      </pc:sldChg>
      <pc:sldChg chg="delSp mod">
        <pc:chgData name="空气 一怀" userId="10627fc3372d1323" providerId="LiveId" clId="{03F84D61-FF13-4C44-BBBD-E15F7EDED5E1}" dt="2026-06-26T07:18:18.202" v="0" actId="478"/>
        <pc:sldMkLst>
          <pc:docMk/>
          <pc:sldMk cId="0" sldId="280"/>
        </pc:sldMkLst>
        <pc:spChg chg="del">
          <ac:chgData name="空气 一怀" userId="10627fc3372d1323" providerId="LiveId" clId="{03F84D61-FF13-4C44-BBBD-E15F7EDED5E1}" dt="2026-06-26T07:18:18.202" v="0" actId="478"/>
          <ac:spMkLst>
            <pc:docMk/>
            <pc:sldMk cId="0" sldId="280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31EA37-30A7-403B-9033-C68F055EBB1D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936112-CC83-4082-899A-7E7D17DBF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4752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936112-CC83-4082-899A-7E7D17DBFB2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57377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936112-CC83-4082-899A-7E7D17DBFB2F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6347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从传感器数据到模式识别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>
                <a:solidFill>
                  <a:srgbClr val="E86A17"/>
                </a:solidFill>
              </a:defRPr>
            </a:pPr>
            <a:r>
              <a:t>可穿戴智能感知系统的全链路工程实践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AAAABB"/>
                </a:solidFill>
              </a:defRPr>
            </a:pPr>
            <a:r>
              <a:rPr dirty="0"/>
              <a:t>202</a:t>
            </a:r>
            <a:r>
              <a:rPr lang="en-US" dirty="0"/>
              <a:t>3</a:t>
            </a:r>
            <a:r>
              <a:rPr dirty="0"/>
              <a:t>级专周实训  ·  </a:t>
            </a:r>
            <a:r>
              <a:rPr dirty="0" err="1"/>
              <a:t>模式识别与统计学习</a:t>
            </a:r>
            <a:r>
              <a:rPr lang="en-US" dirty="0"/>
              <a:t>…………………………………………………………………………………………………………………</a:t>
            </a:r>
            <a:endParaRPr dirty="0"/>
          </a:p>
          <a:p>
            <a:pPr>
              <a:spcAft>
                <a:spcPts val="400"/>
              </a:spcAft>
              <a:defRPr sz="1800">
                <a:solidFill>
                  <a:srgbClr val="AAAABB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800">
                <a:solidFill>
                  <a:srgbClr val="AAAABB"/>
                </a:solidFill>
              </a:defRPr>
            </a:pPr>
            <a:r>
              <a:rPr dirty="0" err="1"/>
              <a:t>团队成员：孔子瑜（算法与工程</a:t>
            </a:r>
            <a:r>
              <a:rPr dirty="0"/>
              <a:t>）  </a:t>
            </a:r>
            <a:r>
              <a:rPr dirty="0" err="1"/>
              <a:t>李宝平（数据采集与固件</a:t>
            </a:r>
            <a:r>
              <a:rPr dirty="0"/>
              <a:t>）</a:t>
            </a:r>
          </a:p>
          <a:p>
            <a:pPr>
              <a:spcAft>
                <a:spcPts val="400"/>
              </a:spcAft>
              <a:defRPr sz="1800">
                <a:solidFill>
                  <a:srgbClr val="AAAABB"/>
                </a:solidFill>
              </a:defRPr>
            </a:pPr>
            <a:r>
              <a:rPr dirty="0" err="1"/>
              <a:t>指导老师：郑积仕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项目目标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▸ 构建可穿戴设备，实时识别 7 种日常人体活动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  ┃ 静坐 / 站立 / 步行 / 跑步 / 上楼 / 下楼 / 跌倒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▸ 全部在 ESP32-S3 端侧完成（不依赖手机/云端）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  ┃ 传感器：MPU6050 6轴 IMU，腰部佩戴，50Hz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  ┃ 模型：逻辑回归 84维特征 → 7类 Softmax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  ┃ 展示：LED 七色 + HTTP Dashboard + 串口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工程全链路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┌──────────┐   ┌──────────┐   ┌──────────┐   ┌──────────┐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│ ① PCB设计  │ → │ ② 嘉立创   │ → │ ③ 手工焊接 │ → │ ④ 传感器标定│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│ KiCad    │   │ 打样     │   │ 阻容/LED  │   │ 六位置法   │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└──────────┘   └──────────┘   └──────────┘   └──────────┘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      ↓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┌──────────┐   ┌──────────┐   ┌──────────┐   ┌──────────┐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│ ⑤ 固件开发  │ → │ ⑥ 数据采集 │ → │ ⑦ 特征工程 │ → │ ⑧ 模型+部署 │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│MicroPython│   │21 trial  │   │ 84维时域  │   │ LR→ESP32 │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└──────────┘   └──────────┘   └──────────┘   └──────────┘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      ↓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┌──────────────────────────────┐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│ ⑨ ESP32 实时推理             │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│ 50Hz → 2.56s窗口 → &lt;2ms推理   │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│ LED + HTTP Dashboard 展示    │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└──────────────────────────────┘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硬件系统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▸ 主控：ESP32-S3 N16R8（双核 240MHz, 8MB PSRAM, 16MB Flash）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▸ 传感器：GY-521 (MPU6050) — 3轴加速度 ±8g + 3轴陀螺仪 ±2000°/s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▸ I²C 总线：SDA=IO17, SCL=IO18, Shield PCB 焊接 (R1/R2 4.7kΩ 上拉)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▸ NeoPixel RGB LED @ GPIO48 — 实时活动指示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▸ Shield 扩展板：KiCad 原理图 → Gerber 导出 → 嘉立创打样 → 手工焊接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误差来源 &amp; 消除策略总览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▸ 三类误差 + 三级消除：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┌─────────────────┬──────────────────┬──────────────────────┐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│ 误差来源          │ 消除方法           │ 效果                  │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├─────────────────┼──────────────────┼──────────────────────┤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│ ① 传感器系统误差   │ 六位置法标定       │ RMSE 11.35→0.42 m/s² │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│ (零偏/灵敏度/轴耦合)│ 最小二乘拟合       │ 改善 96.3%            │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├─────────────────┼──────────────────┼──────────────────────┤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│ ② 训练-推理不一致  │ 数学表达对齐       │ ZCR修复 / median≈mean │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│ (特征计算差异)     │ 训练数据同步替换    │ IQR≈1.349σ           │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├─────────────────┼──────────────────┼──────────────────────┤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│ ③ 传感器配置漂移   │ 显式寄存器配置      │ 量程统一 ±8g/±2000°/s │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│ (量程/采样率不一致) │ 固件统一初始化      │ 采集=推理 完全一致     │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└─────────────────┴──────────────────┴──────────────────────┘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误差消除① — 传感器六位置标定</a:t>
            </a:r>
          </a:p>
        </p:txBody>
      </p:sp>
      <p:pic>
        <p:nvPicPr>
          <p:cNvPr id="3" name="Picture 2" descr="accel_calib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1097280"/>
            <a:ext cx="64008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AAAABB"/>
                </a:solidFill>
              </a:defRPr>
            </a:pPr>
            <a:r>
              <a:t>加速度计六位置法标定 — 每个位置采集5秒，最小二乘求解 bias + scale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六位置法标定 — 原理与实现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▸ 原理：加速度计静止时，三轴合力 = g ≈ 9.80665 m/s²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  ┃ 分别以 6 个朝向静止放置传感器：+Z/-Z/+X/-X/+Y/-Y 各朝下一次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  ┃ 每个位置测得的 (ax, ay, az) 均值应分别等于 (±g, 0, 0), (0, ±g, 0), (0, 0, ±g)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▸ 标定模型:  a_cal = (a_raw - bias) × scale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  ┃ 对每条轴独立做最小二乘: expected = measured / scale + bias → 解出 bias &amp; scale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▸ 结果: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  ┃ 标定前 RMSE = 11.35 m/s²（传感器原始误差 &gt; 1g）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  ┃ 标定后 RMSE = 0.42 m/s²（剩余误差 0.04g）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  ┃ 改善 96.3% — 主要是钟差 bias 被消除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误差消除② — 数据预处理管道</a:t>
            </a:r>
          </a:p>
        </p:txBody>
      </p:sp>
      <p:pic>
        <p:nvPicPr>
          <p:cNvPr id="3" name="Picture 2" descr="preprocess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005840"/>
            <a:ext cx="822960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8521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AAAABB"/>
                </a:solidFill>
              </a:defRPr>
            </a:pPr>
            <a:r>
              <a:t>原始数据 → 标定校准 → 去重力(高通0.3Hz) → 低通滤波(20Hz) → 滑窗(128样本,50%重叠)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误差消除③ — 训练与推理的数学表达对齐 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这是本项目最核心的工程贡献之一。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▸ 问题：ESP32 MicroPython 无法使用 scipy/numpy，训练用 Python 算的特征和固件算的可能不一致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▸ 三类特征不一致及对齐方案：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  ┃ ① 中位数 (median)：Python 用 np.median() 需要排序 → 固件排序太慢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       解决：训练数据用 mean 替换 median，固件直接算均值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  ┃ ② 四分位距 (IQR)：Python 用 scipy.stats.iqr() 需要排序 → 固件无法实现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       解决：训练数据用 1.349 × std 替换 IQR，固件也直接用 1.349σ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  ┃ ③ 过零率 (ZCR)：Python scipy 先减均值再统计过零 → 固件直接对原始值统计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       后果：加速度含重力 ~9.8，信号永远为正 → 固件 ZCR 永远为 0 → 6个特征全废！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       解决：固件加 mu 参数，先减均值再检测过零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ZCR 过零率 Bug — 最隐蔽的特征不一致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029200" cy="1645920"/>
          </a:xfrm>
          <a:prstGeom prst="rect">
            <a:avLst/>
          </a:prstGeom>
          <a:solidFill>
            <a:srgbClr val="3D180A"/>
          </a:solidFill>
          <a:ln w="19050">
            <a:solidFill>
              <a:srgbClr val="E8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E86A17"/>
                </a:solidFill>
              </a:defRPr>
            </a:pPr>
            <a:r>
              <a:t>问题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6 个轴的 ZCR 特征在固件端全部为 0，模型收到的输入完全偏离训练分布</a:t>
            </a:r>
          </a:p>
          <a:p>
            <a:pPr>
              <a:defRPr sz="1300">
                <a:solidFill>
                  <a:srgbClr val="AAAABB"/>
                </a:solidFill>
              </a:defRPr>
            </a:pPr>
            <a:r>
              <a:t>根因: Python 训练: scipy 先 x-mean(x) 去掉重力分量，再统计符号变化次数</a:t>
            </a:r>
            <a:br/>
            <a:r>
              <a:t>固件推理: 直接对原始值检测 (x[i]&gt;=0) != (x[i-1]&gt;=0)</a:t>
            </a:r>
            <a:br/>
            <a:r>
              <a:t>加速度含重力 ~9.8 → 信号从不跨零 → ZCR 恒为 0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188720"/>
            <a:ext cx="5029200" cy="1645920"/>
          </a:xfrm>
          <a:prstGeom prst="rect">
            <a:avLst/>
          </a:prstGeom>
          <a:solidFill>
            <a:srgbClr val="0A2E15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2C55E"/>
                </a:solidFill>
              </a:defRPr>
            </a:pPr>
            <a:r>
              <a:t>解决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固件 ZCR 加上 mu 参数：_zcr(x, mu) → 先减均值再检测过零</a:t>
            </a:r>
            <a:br/>
            <a:r>
              <a:t>与 scipy.stats 行为完全一致，6 个 ZCR 特征恢复正确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C107"/>
                </a:solidFill>
              </a:defRPr>
            </a:pPr>
            <a:r>
              <a:t>关键教训: 训练和推理的每一个数学操作必须逐行对齐，不能只对齐"思路"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传感器量程 Bug — 推理数据偏 4~8 倍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029200" cy="1645920"/>
          </a:xfrm>
          <a:prstGeom prst="rect">
            <a:avLst/>
          </a:prstGeom>
          <a:solidFill>
            <a:srgbClr val="3D180A"/>
          </a:solidFill>
          <a:ln w="19050">
            <a:solidFill>
              <a:srgbClr val="E8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E86A17"/>
                </a:solidFill>
              </a:defRPr>
            </a:pPr>
            <a:r>
              <a:t>问题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离线采集固件配置 MPU6050 为 ±8g/±2000°/s，实时推理固件使用默认 ±2g/±250°/s</a:t>
            </a:r>
            <a:br/>
            <a:r>
              <a:t>但换算系数 ACCL_SENS 和 GYRO_SENS 仍按 ±8g/±2000°/s 计算</a:t>
            </a:r>
            <a:br/>
            <a:r>
              <a:t>→ 加速度值偏小 4 倍，陀螺值偏小 8 倍 → 特征完全偏离训练分布</a:t>
            </a:r>
          </a:p>
          <a:p>
            <a:pPr>
              <a:defRPr sz="1300">
                <a:solidFill>
                  <a:srgbClr val="AAAABB"/>
                </a:solidFill>
              </a:defRPr>
            </a:pPr>
            <a:r>
              <a:t>根因: 采集固件写了 ACCEL_CONFIG (0x1C=0x10) 和 GYRO_CONFIG (0x1B=0x18)</a:t>
            </a:r>
            <a:br/>
            <a:r>
              <a:t>推理固件只写了 PWR_MGMT1 (0x6B) 唤醒命令，依赖上电默认值</a:t>
            </a:r>
            <a:br/>
            <a:r>
              <a:t>两个固件在不同量程下运行 → 数据不可比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188720"/>
            <a:ext cx="5029200" cy="1645920"/>
          </a:xfrm>
          <a:prstGeom prst="rect">
            <a:avLst/>
          </a:prstGeom>
          <a:solidFill>
            <a:srgbClr val="0A2E15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2C55E"/>
                </a:solidFill>
              </a:defRPr>
            </a:pPr>
            <a:r>
              <a:t>解决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统一两个固件的 init_mpu() 显式写入全部 5 个配置寄存器：</a:t>
            </a:r>
            <a:br/>
            <a:r>
              <a:t>0x6B(唤醒) + 0x19(采样率50Hz) + 0x1A(DLPF) + 0x1C(±8g) + 0x1B(±2000°/s)</a:t>
            </a:r>
            <a:br/>
            <a:r>
              <a:t>采集和推理现在看到完全相同的物理量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C107"/>
                </a:solidFill>
              </a:defRPr>
            </a:pPr>
            <a:r>
              <a:t>关键教训: 嵌入式传感器的配置寄存器必须显式设置，不能依赖默认值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充电宝供电卡死 — I²C &amp; WiFi 工程问题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029200" cy="1645920"/>
          </a:xfrm>
          <a:prstGeom prst="rect">
            <a:avLst/>
          </a:prstGeom>
          <a:solidFill>
            <a:srgbClr val="3D180A"/>
          </a:solidFill>
          <a:ln w="19050">
            <a:solidFill>
              <a:srgbClr val="E8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E86A17"/>
                </a:solidFill>
              </a:defRPr>
            </a:pPr>
            <a:r>
              <a:t>问题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USB 连电脑一切正常，换充电宝供电后：蓝灯→绿灯→卡死不动</a:t>
            </a:r>
          </a:p>
          <a:p>
            <a:pPr>
              <a:defRPr sz="1300">
                <a:solidFill>
                  <a:srgbClr val="AAAABB"/>
                </a:solidFill>
              </a:defRPr>
            </a:pPr>
            <a:r>
              <a:t>根因: ① WiFi 禁用时 socket.bind('0.0.0.0', 80) 在无网络接口下无限阻塞</a:t>
            </a:r>
            <a:br/>
            <a:r>
              <a:t>② 软重启后 MPU6050 I²C 状态机残留，写寄存器不 ACK (ENODEV)</a:t>
            </a:r>
            <a:br/>
            <a:r>
              <a:t>③ 充电宝无 USB-CDC 通信，时序与电脑供电不同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188720"/>
            <a:ext cx="5029200" cy="1645920"/>
          </a:xfrm>
          <a:prstGeom prst="rect">
            <a:avLst/>
          </a:prstGeom>
          <a:solidFill>
            <a:srgbClr val="0A2E15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2C55E"/>
                </a:solidFill>
              </a:defRPr>
            </a:pPr>
            <a:r>
              <a:t>解决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① ESP32_IP='0.0.0.0' 时跳过 http_init() — socket 操作全部绕过</a:t>
            </a:r>
            <a:br/>
            <a:r>
              <a:t>② init_mpu() 自建新 SoftI2C 对象 + read WHO_AM_I 验证 + 3次重试</a:t>
            </a:r>
            <a:br/>
            <a:r>
              <a:t>③ 加阶段 LED 指示灯 (蓝=MPU, 黄=WiFi, 青=HTTP, 白闪=就绪) 精确定位卡点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C107"/>
                </a:solidFill>
              </a:defRPr>
            </a:pPr>
            <a:r>
              <a:t>关键教训: 嵌入式设备必须考虑脱离调试环境的独立运行场景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数据采集方案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▸ 被试：S01 | 7活动 × 3次重复 = 21 trial | 每次30s（跌倒15s）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▸ 离线采集固件：自动序列 + LED 颜色引导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  蓝=静坐 青=站立 绿=步行 黄=跑步 橙=上楼 紫=下楼 红=跌倒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  常亮=录制中 白闪=完成 彩虹=全部结束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▸ 佩戴：腰带位置，绑紧不滑动 | 方向不重要但采集和推理必须一致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▸ 输出：363 个滑窗 (128样本/窗口, 50%重叠) → CSV 格式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t-SNE 特征空间可视化</a:t>
            </a:r>
          </a:p>
        </p:txBody>
      </p:sp>
      <p:pic>
        <p:nvPicPr>
          <p:cNvPr id="3" name="Picture 2" descr="d5_ts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914400"/>
            <a:ext cx="59436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0350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AAAABB"/>
                </a:solidFill>
              </a:defRPr>
            </a:pPr>
            <a:r>
              <a:t>84维特征 → t-SNE降维到2D → 7类活动自然聚类，类间边界清晰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特征工程 — 特征选择 &amp; 重要性</a:t>
            </a:r>
          </a:p>
        </p:txBody>
      </p:sp>
      <p:pic>
        <p:nvPicPr>
          <p:cNvPr id="3" name="Picture 2" descr="d5_method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0292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394959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AAAABB"/>
                </a:solidFill>
              </a:defRPr>
            </a:pPr>
            <a:r>
              <a:t>特征选择方法对比 (Filter/Wrapper/Embedded)</a:t>
            </a:r>
          </a:p>
        </p:txBody>
      </p:sp>
      <p:pic>
        <p:nvPicPr>
          <p:cNvPr id="5" name="Picture 4" descr="d5_rf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50292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5394959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AAAABB"/>
                </a:solidFill>
              </a:defRPr>
            </a:pPr>
            <a:r>
              <a:t>Random Forest 特征重要性 Top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模型：逻辑回归 (LogisticRegression)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▸ 多分类策略：One-vs-Rest (OVR) → 7 个二分类器 → Softmax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▸ 输入: 84维手工时域特征 → StandardScaler 标准化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▸ 输出: 7维 logit → Softmax → 概率分布 → argmax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▸ 参数: 84×7=588 权重 + 7 偏置 + 84×2=168 标准化参数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▸ 为什么选 LR 不是 CNN/LSTM？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  ┃ ESP32 MicroPython 跑不动深度学习框架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  ┃ 588次乘法 + Softmax &lt; 2ms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  ┃ 手工特征已提取充足判别信息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  ┃ 可解释 / 可导出 / 可手写循环推理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模型对比 &amp; 分类器评估</a:t>
            </a:r>
          </a:p>
        </p:txBody>
      </p:sp>
      <p:pic>
        <p:nvPicPr>
          <p:cNvPr id="3" name="Picture 2" descr="d7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0292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394959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AAAABB"/>
                </a:solidFill>
              </a:defRPr>
            </a:pPr>
            <a:r>
              <a:t>高级模型 LOSO 精度对比</a:t>
            </a:r>
          </a:p>
        </p:txBody>
      </p:sp>
      <p:pic>
        <p:nvPicPr>
          <p:cNvPr id="5" name="Picture 4" descr="d6_baseline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50292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5394959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AAAABB"/>
                </a:solidFill>
              </a:defRPr>
            </a:pPr>
            <a:r>
              <a:t>基线分类器综合对比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混淆矩阵 — 7类分类结果</a:t>
            </a:r>
          </a:p>
        </p:txBody>
      </p:sp>
      <p:pic>
        <p:nvPicPr>
          <p:cNvPr id="3" name="Picture 2" descr="d8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914400"/>
            <a:ext cx="54864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0350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AAAABB"/>
                </a:solidFill>
              </a:defRPr>
            </a:pPr>
            <a:r>
              <a:t>对角线 = 正确分类 | 非对角线 = 误分类 → 分析最易混淆的活动对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模型评估 — ROC曲线 &amp; 综合排名</a:t>
            </a:r>
          </a:p>
        </p:txBody>
      </p:sp>
      <p:pic>
        <p:nvPicPr>
          <p:cNvPr id="3" name="Picture 2" descr="d8_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0292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394959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AAAABB"/>
                </a:solidFill>
              </a:defRPr>
            </a:pPr>
            <a:r>
              <a:t>各类别 ROC 曲线 (AUC)</a:t>
            </a:r>
          </a:p>
        </p:txBody>
      </p:sp>
      <p:pic>
        <p:nvPicPr>
          <p:cNvPr id="5" name="Picture 4" descr="d8_model_ran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50292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5394959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AAAABB"/>
                </a:solidFill>
              </a:defRPr>
            </a:pPr>
            <a:r>
              <a:t>模型综合排名 (精度+F1+训练时间)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模型部署：sklearn → MicroPython 端侧推理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▸ 导出流程：训练完成 → 提取 coef_, intercept_, mean_, scale_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  ┃ → 格式化为 Python 列表 → 写入 model_params.py → ESP32 直接 import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▸ 固件推理代码（核心 10 行，不依赖任何库）：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  # 标准化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  for i in range(84):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      x[i] = (feat[i] - SCALER_MEAN[i]) / SCALER_STD[i]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  # 点积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  for c in range(7):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      s = INTERCEPT[c]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      for i in range(84): s += x[i] * COEF[c][i]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      logits[c] = s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  # Softmax + argmax → 输出类别 + 置信度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▸ 时序平滑：5 帧多数投票 → 消除单帧跳变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▸ 性能：单次推理 &lt; 2ms | 内存占用 ~165KB | 推理频率 1.28s/次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实验结果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▸ 同人自用场景 (S01 本人佩戴)：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  ┃ 训练精度：100%（7类精确率/召回率/F1 全部 1.00）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  ┃ 363 窗口全覆盖，无分类错误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▸ 实时推理性能：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  ┃ 50Hz 采样 → 每 1.28s 输出一次活动识别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  ┃ 单次推理 &lt; 2ms（588 次浮点乘法）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  ┃ 端侧内存占用 ~165KB（含 84×7 权重矩阵）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▸ 展示方式：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  ┃ ESP32 LED NeoPixel 七色实时指示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  ┃ 电脑 Dashboard（串口）+ 手机浏览器（HTTP）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  ┃ /api/status JSON 接口（含传感器波形）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▸ 已知局限：单被试 → 跨人泛化待 S02 补充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PCA 累计方差 &amp; 降维分析</a:t>
            </a:r>
          </a:p>
        </p:txBody>
      </p:sp>
      <p:pic>
        <p:nvPicPr>
          <p:cNvPr id="3" name="Picture 2" descr="d5_pca_cumv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1097280"/>
            <a:ext cx="64008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AAAABB"/>
                </a:solidFill>
              </a:defRPr>
            </a:pPr>
            <a:r>
              <a:t>前N个主成分的累计方差贡献率 → 指导特征降维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实时演示 — 现场展示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▸ 硬件准备：ESP32-S3 + Shield + GY-521 + 充电宝 + 腰带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▸ 演示流程：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  1. 上电 → 蓝灯(MPU)→黄灯(WiFi)→青灯(HTTP)→白闪3次(就绪)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  2. 佩戴传感器，做任意动作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  3. ESP32 LED 实时变色：蓝(坐) 青(站) 绿(走) 黄(跑) 橙(上楼) 紫(下楼) 红(跌倒)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  4. 电脑 Dashboard 显示实时波形 + 活动 + 置信度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  5. 手机连热点 → 浏览器 http://&lt;ESP32_IP&gt; → 移动端 Dashboard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▸ 备用方案（无WiFi时）：USB 连接电脑 → 串口 Dashboard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预判问答 — 常见问题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Q: 100%精度是不是过拟合/</a:t>
            </a:r>
            <a:r>
              <a:rPr dirty="0" err="1"/>
              <a:t>数据泄露</a:t>
            </a:r>
            <a:r>
              <a:rPr dirty="0"/>
              <a:t>？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A: </a:t>
            </a:r>
            <a:r>
              <a:rPr dirty="0" err="1"/>
              <a:t>否。这是同人自用场景</a:t>
            </a:r>
            <a:r>
              <a:rPr dirty="0"/>
              <a:t>(self-demo)，</a:t>
            </a:r>
            <a:r>
              <a:rPr dirty="0" err="1"/>
              <a:t>训练集包含佩戴者本人，端侧模型就该这么做</a:t>
            </a:r>
            <a:r>
              <a:rPr dirty="0"/>
              <a:t>。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Q: </a:t>
            </a:r>
            <a:r>
              <a:rPr dirty="0" err="1"/>
              <a:t>只有一个被试？跨人泛化呢</a:t>
            </a:r>
            <a:r>
              <a:rPr dirty="0"/>
              <a:t>？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A: </a:t>
            </a:r>
            <a:r>
              <a:rPr dirty="0" err="1"/>
              <a:t>端侧模型为佩戴者本人优化是工业常态（Apple</a:t>
            </a:r>
            <a:r>
              <a:rPr dirty="0"/>
              <a:t> </a:t>
            </a:r>
            <a:r>
              <a:rPr dirty="0" err="1"/>
              <a:t>Watch先做个人校准</a:t>
            </a:r>
            <a:r>
              <a:rPr dirty="0"/>
              <a:t>）。S02 </a:t>
            </a:r>
            <a:r>
              <a:rPr dirty="0" err="1"/>
              <a:t>数据后续补充</a:t>
            </a:r>
            <a:r>
              <a:rPr dirty="0"/>
              <a:t>。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Q: </a:t>
            </a:r>
            <a:r>
              <a:rPr dirty="0" err="1"/>
              <a:t>为什么不用神经网络而用逻辑回归</a:t>
            </a:r>
            <a:r>
              <a:rPr dirty="0"/>
              <a:t>？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A: ESP32 </a:t>
            </a:r>
            <a:r>
              <a:rPr dirty="0" err="1"/>
              <a:t>MicroPython</a:t>
            </a:r>
            <a:r>
              <a:rPr dirty="0"/>
              <a:t> </a:t>
            </a:r>
            <a:r>
              <a:rPr dirty="0" err="1"/>
              <a:t>跑不动深度学习。手工特征+LR</a:t>
            </a:r>
            <a:r>
              <a:rPr dirty="0"/>
              <a:t> 在 2.56s </a:t>
            </a:r>
            <a:r>
              <a:rPr dirty="0" err="1"/>
              <a:t>窗口上已提取到足够判别信息</a:t>
            </a:r>
            <a:r>
              <a:rPr dirty="0"/>
              <a:t>。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Q: 为什么不要磁力计（只用6轴）？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A: </a:t>
            </a:r>
            <a:r>
              <a:rPr dirty="0" err="1"/>
              <a:t>室内磁场干扰大（钢筋、电器</a:t>
            </a:r>
            <a:r>
              <a:rPr dirty="0"/>
              <a:t>），实测贡献小。6轴加速度+陀螺仪已能区分七种活动。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Q: </a:t>
            </a:r>
            <a:r>
              <a:rPr dirty="0" err="1"/>
              <a:t>怎么验证模型学到的不是假特征</a:t>
            </a:r>
            <a:r>
              <a:rPr dirty="0"/>
              <a:t>？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A: 看 t-SNE 聚类效果（7类边界清晰）+ </a:t>
            </a:r>
            <a:r>
              <a:rPr dirty="0" err="1"/>
              <a:t>实时演示（不同姿势做同一动作，输出稳定</a:t>
            </a:r>
            <a:r>
              <a:rPr dirty="0"/>
              <a:t>）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</a:defRPr>
            </a:pPr>
            <a:r>
              <a:t>▸ 从零到一跑通了 硬件→算法→部署 全链路工程实践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</a:defRPr>
            </a:pPr>
            <a:r>
              <a:t>▸ 三类误差系统化消除：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</a:defRPr>
            </a:pPr>
            <a:r>
              <a:t>  ① 传感器系统误差 → 六位置法标定（RMSE 96.3%改善）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</a:defRPr>
            </a:pPr>
            <a:r>
              <a:t>  ② 训练-推理不一致 → 数学表达精确对齐（median/iqr/zcr）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</a:defRPr>
            </a:pPr>
            <a:r>
              <a:t>  ③ 配置漂移 → 寄存器显式统一（量程/采样率/滤波器）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</a:defRPr>
            </a:pPr>
            <a:r>
              <a:t>▸ 核心能力体现：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</a:defRPr>
            </a:pPr>
            <a:r>
              <a:t>  ┃ 遇到问题 → 定位根因 → 工程化解决（不是调包跑模型）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</a:defRPr>
            </a:pPr>
            <a:r>
              <a:t>  ┃ 全栈嵌入式 AI：PCB + 固件 + 算法 + 部署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</a:defRPr>
            </a:pPr>
            <a:r>
              <a:t>▸ 技术栈：KiCad PCB / MicroPython / scikit-learn / ESP32-S3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</a:defRPr>
            </a:pPr>
            <a:r>
              <a:t>▸ 未来方向：多被试扩充 / HMM时序平滑 / 1D-CNN端到端对比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1833</Words>
  <Application>Microsoft Office PowerPoint</Application>
  <PresentationFormat>宽屏</PresentationFormat>
  <Paragraphs>217</Paragraphs>
  <Slides>25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29" baseType="lpstr">
      <vt:lpstr>等线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空气 一怀</cp:lastModifiedBy>
  <cp:revision>1</cp:revision>
  <dcterms:created xsi:type="dcterms:W3CDTF">2013-01-27T09:14:16Z</dcterms:created>
  <dcterms:modified xsi:type="dcterms:W3CDTF">2026-06-26T07:56:13Z</dcterms:modified>
  <cp:category/>
</cp:coreProperties>
</file>