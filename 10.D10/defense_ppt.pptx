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基于惯性/磁传感器的人体活动模式识别</a:t>
            </a:r>
            <a:br/>
            <a:r>
              <a:t>系统设计与实现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福建理工大学  智能科学与技术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孔子瑜（算法与工程）  李宝平（数据采集与固件）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指导老师：郑积仕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1. 项目概述与目标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2. 硬件架构与传感器标定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3. 数据采集与预处理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4. 特征工程（提取 + 选择 + 降维）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5. 分类器对比与模型选择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6. 评估体系与统计检验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7. 进阶探索（时序平滑 / 1D-CNN / 聚类）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8.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◆ 目标：从传感器数据到模式识别 —— 可穿戴 HAR 全链路工程实践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◆ 硬件：ESP32-S3 + MPU6050（Acc+Gyro）+ HMC5883L（Mag）→ 9通道 @50Hz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◆ 活动：7类（静坐/站立/步行/跑步/上楼/下楼/跌倒）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◆ 被试：2人 × 1次采集 = 14 CSV → 566 滑动窗口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</a:defRPr>
            </a:pPr>
            <a:r>
              <a:t>  ◆ 全链路：标定 → 预处理 → 窗口化 → 294维特征 → 6种特征选择 → 13种分类器 → LOSO评估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84048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D1-D2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D4-D5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D6-D7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D8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D9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项目启动+标定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采集+预处理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特征工程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分类建模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评估检验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进阶探索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硬件架构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型号/参数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MCU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ESP32-S3 N16R8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WiFi/BLE, 16MB Flash, 8MB PSRAM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IMU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MPU6050 @ 0x68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Acc ±8g, Gyro ±2000dps, I²C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磁力计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HMC5883L @ 0x1E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3-axis, I²C, 寄存器 X/Z/Y 非标准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PCB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KiCad 2层板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嘉立创打样, 手工焊接 J1-J4/R1-R2/C1-C2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I²C (SDA=IO17, SCL=IO18)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4.7kΩ上拉, 100nF去耦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指示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NeoPixel RGB @ GPIO48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2E"/>
                          </a:solidFill>
                        </a:defRPr>
                      </a:pPr>
                      <a:r>
                        <a:t>白=编号, 橙=倒计时, 绿=采集, 蓝=OK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传感器标定（D2核心）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传感器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关键指标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改善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加速度计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六位置静态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a = M(a_raw-b), 12参数LS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RMSE 11.35→0.42 m/s²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磁力计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椭球拟合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DLS→SVD, 硬铁+软铁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norm_std 7.44→1.22 uT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76.1%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陀螺仪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Allan方差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静态零偏+ARW+BI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零偏[-4.29,-1.21,0.67]°/s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标定是模式识别的物理基础："垃圾进，垃圾出"。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未标定数据的系统误差会让所有特征"失真"，识别率天花板被死死压住。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加速度计：静止时合加速度模长 = 1g 约束 → 最小二乘求解 12 参数。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磁力计：3D数据是偏心椭球 → DLS拟合 → SVD分解 → 校正为球。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陀螺仪：Allan方差 log-log 曲线区分角随机游走(ARW)与零偏不稳定性(BI)。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数据采集与预处理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活动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时长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窗口数(S01/S02)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关键特征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46/46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加速度≈1g, 角速度≈0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stand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65s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46/46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同sit, 姿态角微差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46/46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步频~2Hz, 周期性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65s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46/46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步频~3Hz, 高冲击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upstairs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46/46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垂直上推, 偏度为正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downstairs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65s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46/46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垂直冲击, 偏度为负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7/7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单脉冲, 高幅值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预处理流水线：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raw CSV → 校准(calib_params.json) → 裁剪首尾2s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→ 去重力(HP 0.3Hz) → 低通(LP 20Hz)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→ 窗口化(2.56s,128点,50%重叠) → (566,128,9)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窗口标签：多数表决（窗口内取众数）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数据划分：LOSO按subject_id，标准化在fold内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特征工程：294维 → 292维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120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核心判别力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时域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126 (14×9轴)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mean/std/rms/skew/kurtosis/iqr/zcr...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运动强度与分布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频域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90 (10×9轴)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主频/频谱质心/谱熵/频带能量比...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步频与运动规律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模长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72 (24×3组)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合Acc/Gyro/Mag的时域+频域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三维合成不变量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复合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轴间相关/加加速度/垂直水平比/航向std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跨轴交互与姿态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★ 关键判别特征（按RF重要性排序）：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 ① 合加速度IQR — 运动强度核心指标     ② 垂直/水平能量比 — 上楼vs下楼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 ③ 磁航向标准差 — 转向检测            ④ 加速度skew — 上楼(正) vs 下楼(负)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★ 特征选择结论：RFE(RF) 30维最优 (CV 91.7%) &gt; SFS 30维 (90.8%) &gt; ANOVA Top-30 (88.5%)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★ PCA: 25维→95%方差, 50维→99%。LDA: 仅6维(7类-1)，高维小样本SVD失效(acc 23.3%)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分类器对比（13种模型 LOSO）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分析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kNN (k=3,distance)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非参数+距离加权, 小样本最优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LR (L2)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0.525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0.490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线性基线, 稳健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MLP (128,64)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小样本下不及kNN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0.488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0.442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特征独立假设过强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RBF_SVM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核方法需更多样本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RandomForest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0.424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0.386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小样本方差大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GBDT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严重过拟合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★ kNN胜出原因：小样本(每fold仅283训练窗口)下基于实例的方法优于需估计大量参数的模型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★ 最小风险贝叶斯（跌倒漏检×10）：跌倒recall 42.9%→57.1%，acc微降0.9pp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评估：混淆矩阵分析</a:t>
            </a:r>
          </a:p>
        </p:txBody>
      </p:sp>
      <p:pic>
        <p:nvPicPr>
          <p:cNvPr id="3" name="Picture 2" descr="d8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3035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18872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★ 核心发现：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• sit recall = 0% — 全部被错判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  Fold1: sit→run/downstairs（跨被试偏移）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  Fold2: sit→stand 46/46（准静态混淆）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• walk recall = 93.5% — 最好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• upstairs recall = 83.7%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★ 物理原因：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sit vs stand: 加速度≈1g, 角速度≈0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upstairs vs downstairs: 步态相似, 仅垂直方向相反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fall vs run: 冲击脉冲 vs 周期性峰值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★ 统计检验：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McNemar: kNN vs RBF_SVM p&lt;0.0001（显著）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   Bootstrap 95% CI: [51.2%, 59.4%]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评估：完整模型排名</a:t>
            </a:r>
          </a:p>
        </p:txBody>
      </p:sp>
      <p:pic>
        <p:nvPicPr>
          <p:cNvPr id="3" name="Picture 2" descr="d8_model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657600"/>
          </a:xfrm>
          <a:prstGeom prst="rect">
            <a:avLst/>
          </a:prstGeom>
        </p:spPr>
      </p:pic>
      <p:pic>
        <p:nvPicPr>
          <p:cNvPr id="4" name="Picture 3" descr="d8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左：所有模型 Accuracy + Macro F1 对比（LOSO）。kNN 显著优于其他模型。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右：OvR ROC 曲线。各类AUC反映一对一可分性，walk AUC最高。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进阶探索①：时序平滑</a:t>
            </a:r>
          </a:p>
        </p:txBody>
      </p:sp>
      <p:pic>
        <p:nvPicPr>
          <p:cNvPr id="3" name="Picture 2" descr="d9_temporal_smoothing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09728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方法：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滑窗多数表决 (L=3,5,7)：窗口内多数投票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HMM Viterbi解码：训练标签→转移矩阵, kNN概率→发射概率, Viterbi→最优路径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结果：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acc 56.4% → 59.5% (+3.1pp, L=7 MV)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walk 93.5% → 100%, upstairs 83.7% → 93.5%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sit 恒为 0% — 平滑无法修复特征级混淆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启示：时序平滑消除偶发抖动有效，但不能创造判别信息。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进阶探索②：1D-CNN + 无监督聚类</a:t>
            </a:r>
          </a:p>
        </p:txBody>
      </p:sp>
      <p:pic>
        <p:nvPicPr>
          <p:cNvPr id="3" name="Picture 2" descr="d9_cn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2926080"/>
          </a:xfrm>
          <a:prstGeom prst="rect">
            <a:avLst/>
          </a:prstGeom>
        </p:spPr>
      </p:pic>
      <p:pic>
        <p:nvPicPr>
          <p:cNvPr id="4" name="Picture 3" descr="d9_clustering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1D-CNN（左）：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Accuracy仅25% — 566窗口远不足，严重过拟合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sit recall=50%！唯一检测到sit的模型 — 原始信号含判别信息但手工特征未捕获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CNN与kNN互补：CNN找到sit找不到stand, kNN反过来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聚类（右）：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PCA降维使ARI翻倍(0.17→0.36) — 292维中约90%为冗余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KMeans+PCA: ARI=0.364, NMI=0.516 — 中等聚类质量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• t-SNE显示walk/run/upstairs成簇, sit/stand高度重叠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进阶探索③：HMM转移矩阵与聚类可视化</a:t>
            </a:r>
          </a:p>
        </p:txBody>
      </p:sp>
      <p:pic>
        <p:nvPicPr>
          <p:cNvPr id="3" name="Picture 2" descr="d9_hmm_transi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029200" cy="4754880"/>
          </a:xfrm>
          <a:prstGeom prst="rect">
            <a:avLst/>
          </a:prstGeom>
        </p:spPr>
      </p:pic>
      <p:pic>
        <p:nvPicPr>
          <p:cNvPr id="4" name="Picture 3" descr="d9_clustering_ts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188720"/>
            <a:ext cx="5943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左：HMM转移矩阵 — sit↔stand转移概率高(采集顺序相邻), walk/run自转移概率最高(连续窗口稳定)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  右：t-SNE可视化 — 左上真值, 右上KMeans, 左下GMM, 右下GMM+PCA。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      sit(蓝)与stand(橙)在所有方法中都高度重叠，walk/run/upstairs天然可聚类。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8. 核心结果汇总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窗口数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最佳Recall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达成方法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主要混淆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1.000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kNN+MV L=7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upstairs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0.935 ★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kNN+MV L=7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downstairs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stand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kNN+MV L=5/7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0.565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kNN+MV L=7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walk, up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kNN+MV L=5/7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downstairs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HMM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upstairs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0.000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2E"/>
                          </a:solidFill>
                        </a:defRPr>
                      </a:pPr>
                      <a:r>
                        <a:t>stand,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★ 正向成果：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全链路工程闭环（硬件焊接→标定→采集→算法→评估）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6种特征选择+13种模型系统对比 + LOSO严谨评估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时序平滑有效消除偶发抖动（acc +3.1pp）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聚类验证数据结构中等可分（ARI=0.364）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★ 诚实局限：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LOSO仅2 folds(2被试) — 统计意义有限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sit完全不可分 — 跨被试特征偏移（核心瓶颈）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    • CNN极端过拟合(566窗口) — 但sit=50%是有价值信号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8. 改进路线图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措施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预期效果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短期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数据增强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被试≥5人, 每类≥3次, 跌倒≥30s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LOSO≥5 folds, 统计意义↑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短期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特征优化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姿态角(pitch/roll), 小波时频特征, 气压计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sit/stand可分性↑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中期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模型升级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CNN+手工特征融合, 迁移学习(预训练HAR微调)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小样本下泛化↑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长期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模型量化→TF-Lite Micro→ESP32实时推理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1E2E"/>
                          </a:solidFill>
                        </a:defRPr>
                      </a:pPr>
                      <a:r>
                        <a:t>功耗-时延-精度三角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★ 本次实验最大的"负面结果"反而是最有价值的发现：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• sit recall=0% → 暴露了跨被试场景下传感器姿态差异的致命影响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• CNN=25%但sit=50% → 证明了原始信号中有可分辨信息但手工特征遗漏了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  • 聚类ARI=0.36 → 量化了仅靠静态特征的分离上限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这些"失败"比walk=100%教给我们的东西更多。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个人收获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孔子瑜（算法与工程）：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从"会掉包"到"真懂算法"：理解了每个参数的物理含义和统计前提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掌握了特征工程的物理直觉（为什么上楼偏度为正、下楼为负）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领悟了评估严谨性是区分专业与业余的分水岭（LOSO不是可选项而是必须）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最重要的是：坦诚面对"失败"——sit recall=0% 比 walk=100% 教给我更多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李宝平（数据采集与固件）：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掌握了 I²C 总线调试的完整流程和 ESP32 MicroPython 开发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通过 PCB SDA/SCL 短路排查理解了硬件调试的系统性思维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• HMC5883L 寄存器顺序(X,Z,Y非标准)的发现是"手册优先"原则的经典案例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请各位老师批评指正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GitHub: github.com/kkawo/har-project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孔子瑜  李宝平   |   郑积仕老师指导</a:t>
            </a:r>
          </a:p>
          <a:p>
            <a:pPr>
              <a:spcAft>
                <a:spcPts val="600"/>
              </a:spcAft>
              <a:defRPr sz="1800">
                <a:solidFill>
                  <a:srgbClr val="F0F0F5"/>
                </a:solidFill>
              </a:defRPr>
            </a:pPr>
            <a:r>
              <a:t>福建理工大学  智能科学与技术   | 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